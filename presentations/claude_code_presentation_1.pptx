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64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904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20116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Anthropic's Agentic Coding Tool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274320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Attila Budai 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Intermediate-to-Senior Developers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Context Window — What Actually Gets Sent</a:t>
            </a:r>
            <a:endParaRPr lang="en-US" sz="2600" dirty="0"/>
          </a:p>
        </p:txBody>
      </p:sp>
      <p:pic>
        <p:nvPicPr>
          <p:cNvPr id="3" name="Image 0" descr="/mnt/user-data/uploads/claude_context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672824"/>
            <a:ext cx="7594092" cy="4237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Handling — The #1 Operational Skill</a:t>
            </a:r>
            <a:endParaRPr lang="en-US" sz="2500" dirty="0"/>
          </a:p>
        </p:txBody>
      </p:sp>
      <p:pic>
        <p:nvPicPr>
          <p:cNvPr id="5" name="Image 1" descr="/mnt/user-data/uploads/1772651021994_claude_con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960120"/>
            <a:ext cx="4754880" cy="259141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051560"/>
            <a:ext cx="3474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051560"/>
            <a:ext cx="54864" cy="7315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691640" y="1124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6916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usage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1920240"/>
            <a:ext cx="3474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920240"/>
            <a:ext cx="54864" cy="7315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 min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69164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degrades at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6916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70-100k tokens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788920"/>
            <a:ext cx="3474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788920"/>
            <a:ext cx="54864" cy="73152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22–38%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691640" y="2862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Auto-compact overhead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69164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context window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5760" y="3657600"/>
            <a:ext cx="3474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3657600"/>
            <a:ext cx="54864" cy="73152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66%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169164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idle consumption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69164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context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7" name="Text 2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context problems: Ordering (recency bias) • Saturation (needle-in-haystack) • Decay (stale info)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Claude Code?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9144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2412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official agentic coding tool. Started as a CLI, now available across terminal, IDE, desktop app, browser, and mobile. It understands your codebase, reads/writes files, executes commands, and works autonomously — all through natural language.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agentic?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= autonomous goal pursuit through a Plan → Act → Observe → Iterate loop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97480"/>
            <a:ext cx="192024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816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6928" y="3200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goal into steps, identifies risks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386584" y="281635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2560320" y="269748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60320" y="2697480"/>
            <a:ext cx="1920240" cy="54864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283464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17520" y="2816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670048" y="3200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— file edits, shell, git, MCP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89704" y="281635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4663440" y="269748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697480"/>
            <a:ext cx="1920240" cy="54864"/>
          </a:xfrm>
          <a:prstGeom prst="rect">
            <a:avLst/>
          </a:prstGeom>
          <a:solidFill>
            <a:srgbClr val="2D4A8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28346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2816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773168" y="3200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results — test output, errors, file state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592824" y="281635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6766560" y="269748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766560" y="2697480"/>
            <a:ext cx="1920240" cy="54864"/>
          </a:xfrm>
          <a:prstGeom prst="rect">
            <a:avLst/>
          </a:prstGeom>
          <a:solidFill>
            <a:srgbClr val="34C759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88" y="2834640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23760" y="2816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6876288" y="3200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plan based on what it observed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252B3B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206240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97280" y="406908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context matters here: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iteration of this loop generates tool results that fill the context window. A complex task may run 50+ cycles. Managing context is managing the quality of the agentic loop.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 Code Dictionary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133856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042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14400" y="12984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config file injected into every conversation. Your "constitution" — rules, routing, conventions.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65760" y="18013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929384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1837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914400" y="20939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in .claude/skills/ loaded on demand. Expert knowledge for specific tasks (e.g. database migrations).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65760" y="25968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72491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2633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14400" y="28895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scripts that run before/after Claude acts. Mandatory enforcement — Claude cannot skip them.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365760" y="33924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520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914400" y="36850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.claude/rules/ always loaded into context. Modular laws for testing, security, code style.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365760" y="41879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4315968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224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914400" y="4480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standard for connecting external tools (databases, APIs, services) to Claude.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4754880" y="10058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1133856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03520" y="1042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5303520" y="12984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Claude session with its own context window and tools. Delegated work returns only a summary.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4754880" y="18013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1929384"/>
            <a:ext cx="365760" cy="36576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03520" y="1837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5303520" y="20939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in .claude/commands/ — custom workflows invoked with /slash syntax.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4754880" y="25968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2724912"/>
            <a:ext cx="365760" cy="3657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303520" y="2633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5303520" y="28895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in .claude/agents/ — run in separate context with specific roles (e.g. code-reviewer).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4754880" y="33924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4608" y="3520440"/>
            <a:ext cx="365760" cy="36576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30352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Worktrees</a:t>
            </a:r>
            <a:endParaRPr lang="en-US" sz="1100" dirty="0"/>
          </a:p>
        </p:txBody>
      </p:sp>
      <p:sp>
        <p:nvSpPr>
          <p:cNvPr id="40" name="Text 28"/>
          <p:cNvSpPr/>
          <p:nvPr/>
        </p:nvSpPr>
        <p:spPr>
          <a:xfrm>
            <a:off x="5303520" y="36850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feature: multiple working copies of a repo. Enables parallel Claude sessions on separate branches.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4754880" y="41879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4608" y="4315968"/>
            <a:ext cx="365760" cy="36576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303520" y="4224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100" dirty="0"/>
          </a:p>
        </p:txBody>
      </p:sp>
      <p:sp>
        <p:nvSpPr>
          <p:cNvPr id="44" name="Text 31"/>
          <p:cNvSpPr/>
          <p:nvPr/>
        </p:nvSpPr>
        <p:spPr>
          <a:xfrm>
            <a:off x="5303520" y="4480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cross-session learnings. Persists between conversations, separate from CLAUDE.md.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Model Context Protocol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64008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(created by Anthropic) that lets Claude connect to external tools and data sources through a unified protocol. Think of it as USB-C for AI — one standard connector for databases, APIs, file systems, web services, and more.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651760"/>
            <a:ext cx="260604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34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(Client)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acts as the MCP client. It discovers available tools from connected servers.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37560" y="265176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37560" y="2651760"/>
            <a:ext cx="2606040" cy="54864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8346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47472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process that exposes tools, resources, and prompts via the MCP protocol.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265176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2651760"/>
            <a:ext cx="2606040" cy="54864"/>
          </a:xfrm>
          <a:prstGeom prst="rect">
            <a:avLst/>
          </a:prstGeom>
          <a:solidFill>
            <a:srgbClr val="34C75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8346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Service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5508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 source — PostgreSQL, GitHub, Jira, Slack, filesystem, custom APIs.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06324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594360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252B3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8912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42519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cost: Each MCP server's tool definitions consume tokens just by being registered — up to 66% of context. Install only what you need, toggle OFF when not in use.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Subagents &amp; Delegation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6400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is a child Claude session that runs in its own context window with its own tools and model. The parent delegates a task, the subagent works independently, and only a summary comes back — keeping the parent's context clean.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"Do it myself" — Execute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2491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6791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main context window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108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 results stay in context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8444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538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fills up with every action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1421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968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small, focused tasks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54880" y="21031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4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"Delegate" — Subagent</a:t>
            </a:r>
            <a:endParaRPr lang="en-US" sz="14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72491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26791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its own fresh context window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57800" y="3108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tools and can be a different model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8444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57800" y="3538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summary returns to parent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014216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57800" y="3968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tasks, parallel work, specialists</a:t>
            </a:r>
            <a:endParaRPr lang="en-US" sz="1200" dirty="0"/>
          </a:p>
        </p:txBody>
      </p:sp>
      <p:sp>
        <p:nvSpPr>
          <p:cNvPr id="30" name="Shape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31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reusable specialists in .claude/agents/ — e.g. code-reviewer.md, security-agent.md — each with its own role and instructions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Slash Commands &amp; Daily Workflow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64008" cy="1143000"/>
          </a:xfrm>
          <a:prstGeom prst="rect">
            <a:avLst/>
          </a:prstGeom>
          <a:solidFill>
            <a:srgbClr val="FF950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124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conversation and free context. Use when context is getting heavy (~50%+). Claude creates a summary and starts fresh from it.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2313432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2313432"/>
            <a:ext cx="64008" cy="1143000"/>
          </a:xfrm>
          <a:prstGeom prst="rect">
            <a:avLst/>
          </a:prstGeom>
          <a:solidFill>
            <a:srgbClr val="FF3B5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5059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386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2770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reset — wipe entire context and start a brand new session. More aggressive than /compact; no summary carried over.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760" y="3575304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65760" y="3575304"/>
            <a:ext cx="64008" cy="11430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1246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648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/teleport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40325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your current session from one surface to another. Start on claude.ai/code (mobile), continue in terminal. Carries context across.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754880" y="10515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1051560"/>
            <a:ext cx="64008" cy="114300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1124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93776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CLAUDE.md for your project. Claude analyzes your codebase and generates an initial constitution with conventions and routing.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54880" y="2313432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754880" y="2313432"/>
            <a:ext cx="64008" cy="1143000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450592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49240" y="2386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937760" y="2770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code review workflow. Claude examines recent changes, checks against project rules, and provides structured feedback.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754880" y="3575304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754880" y="3575304"/>
            <a:ext cx="64008" cy="1143000"/>
          </a:xfrm>
          <a:prstGeom prst="rect">
            <a:avLst/>
          </a:prstGeom>
          <a:solidFill>
            <a:srgbClr val="2D4A8C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712464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49240" y="3648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/your-command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4937760" y="40325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from .claude/commands/ — define your own workflows in markdown and invoke them by name.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 Product Family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2560320" cy="777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78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Chat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(Chat)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532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715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099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3282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 access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666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" y="38496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4233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" y="4416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writing,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9184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91840" y="1051560"/>
            <a:ext cx="2560320" cy="7772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Text 18"/>
          <p:cNvSpPr/>
          <p:nvPr/>
        </p:nvSpPr>
        <p:spPr>
          <a:xfrm>
            <a:off x="3429000" y="1078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(Web)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429000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claude.ai/code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2900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429000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coding UI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29000" y="2532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429000" y="2715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connect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29000" y="3099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429000" y="3282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sandbox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429000" y="3666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429000" y="38496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429000" y="4233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429000" y="4416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implement,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12648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26480" y="1051560"/>
            <a:ext cx="2560320" cy="77724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35" name="Text 32"/>
          <p:cNvSpPr/>
          <p:nvPr/>
        </p:nvSpPr>
        <p:spPr>
          <a:xfrm>
            <a:off x="6263640" y="1078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(CLI/Desktop)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263640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Desktop / IDE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26364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263640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+ IDE panels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263640" y="2532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63640" y="2715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filesystem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63640" y="3099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263640" y="3282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shell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263640" y="3666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263640" y="38496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hooks, skills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263640" y="4233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263640" y="4416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implement,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commit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vs Cursor vs Windsurf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9077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(CLI)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(Web)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Windsurf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/ Desktop / 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fork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fork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in 2.0 (Oct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(Cascade)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(selective loading)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(silent truncation)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(loads all rules)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(worktrees, diffs)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PRs/branches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CLAUDE.md, hooks,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(limited)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.cursorrules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worktrees (3-100)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workspace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workspace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252B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605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40690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autonomy matters: Claude Code gives you full control over what enters context. Cursor silently truncates for cost/performance. Windsurf loads everything every time.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Edge — Head to Head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402336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Claude Code Wins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1907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6733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 — plan, implement, test, commit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037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157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Multi-surface (terminal, IDE, desktop, web, mobile)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8833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6426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with git worktrees (3–100 agents)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127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enforcement: hooks, skills, subagents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5760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Terminal-native: SSH, tmux, headless servers</a:t>
            </a:r>
            <a:endParaRPr lang="en-US" sz="11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42232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4400" y="4096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Actions, GitLab, Slack integration</a:t>
            </a:r>
            <a:endParaRPr lang="en-US" sz="1150" dirty="0"/>
          </a:p>
        </p:txBody>
      </p:sp>
      <p:sp>
        <p:nvSpPr>
          <p:cNvPr id="20" name="Shape 11"/>
          <p:cNvSpPr/>
          <p:nvPr/>
        </p:nvSpPr>
        <p:spPr>
          <a:xfrm>
            <a:off x="475488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754880" y="1051560"/>
            <a:ext cx="4023360" cy="502920"/>
          </a:xfrm>
          <a:prstGeom prst="rect">
            <a:avLst/>
          </a:prstGeom>
          <a:solidFill>
            <a:srgbClr val="D49A20"/>
          </a:solidFill>
          <a:ln/>
        </p:spPr>
      </p:sp>
      <p:sp>
        <p:nvSpPr>
          <p:cNvPr id="22" name="Text 13"/>
          <p:cNvSpPr/>
          <p:nvPr/>
        </p:nvSpPr>
        <p:spPr>
          <a:xfrm>
            <a:off x="475488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Cursor / Windsurf Win</a:t>
            </a:r>
            <a:endParaRPr lang="en-US" sz="1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19072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03520" y="16733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feedback: inline diffs &amp; live previews</a:t>
            </a:r>
            <a:endParaRPr lang="en-US" sz="11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203704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03520" y="2157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learning curve: familiar IDE UX</a:t>
            </a:r>
            <a:endParaRPr lang="en-US" sz="11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88336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03520" y="26426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tab completion for small edits</a:t>
            </a:r>
            <a:endParaRPr lang="en-US" sz="11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72968"/>
            <a:ext cx="256032" cy="25603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03520" y="3127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Multi-model: switch GPT, Claude, Gemini per-request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Permission Modes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with Shift+Tab during a session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2560320" cy="64008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600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9436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permission for each tool use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Learning, sensitive work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91840" y="14173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34C75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Auto-Accept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4290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all actions automatically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4290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Trusted tasks, experienced users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560320" cy="64008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002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26364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explore but not modify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636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Architecture, planning, research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252B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Requires Permission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42232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reads — usually auto-allowed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62272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32688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writes — requires approval in Normal mode</a:t>
            </a:r>
            <a:endParaRPr lang="en-US" sz="11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42232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64608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— approval (risky always ask)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62272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864608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commits/pushes — always ask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settings.json — Configuration Guide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Locations &amp; Precedence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13898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/etc/claude-code/settings.json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~/.claude/settings.json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.claude/settings.json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(git)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.claude/settings.local.json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(gitignored)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2971800"/>
            <a:ext cx="3931920" cy="594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2971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Precedence: Managed &gt; CLI args &gt; Local &gt; Shared &gt; 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(like permissions.allow) merge across scopes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Settings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754880" y="1371600"/>
            <a:ext cx="4023360" cy="21945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11" name="Text 7"/>
          <p:cNvSpPr/>
          <p:nvPr/>
        </p:nvSpPr>
        <p:spPr>
          <a:xfrm>
            <a:off x="4937760" y="14173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"opus",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"allow": ["Bash(npm run *)"],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"deny": ["Read(.env)"],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"defaultMode": "acceptEdits"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 ...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"sandbox": { ...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{ "KEY": "value"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393192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9319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Use project-level .claude/settings.json for team-shared conventions, and .claude/settings.local.json for personal overrides. Managed settings (enterprise) cannot be overridden.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Model Comparison Guide</a:t>
            </a:r>
            <a:endParaRPr lang="en-US" sz="2800" dirty="0"/>
          </a:p>
        </p:txBody>
      </p:sp>
      <p:pic>
        <p:nvPicPr>
          <p:cNvPr id="3" name="Image 0" descr="/mnt/user-data/uploads/1772651021993_claude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8229600" cy="43946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— Persistent Project Context</a:t>
            </a:r>
            <a:endParaRPr lang="en-US" sz="2600" dirty="0"/>
          </a:p>
        </p:txBody>
      </p:sp>
      <p:pic>
        <p:nvPicPr>
          <p:cNvPr id="3" name="Image 0" descr="/mnt/user-data/uploads/1772651021995_claude-md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8229600" cy="44851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Configuration Hierarchy</a:t>
            </a:r>
            <a:endParaRPr lang="en-US" sz="2600" dirty="0"/>
          </a:p>
        </p:txBody>
      </p:sp>
      <p:pic>
        <p:nvPicPr>
          <p:cNvPr id="3" name="Image 0" descr="/mnt/user-data/uploads/1772651021993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31520"/>
            <a:ext cx="8046720" cy="42905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Constitution (advisory)  •  Skills = SOPs (optional)  •  Hooks = Police (mandatory)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 — Think Before You Act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Plan Mode CAN Do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6420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6276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codebase (read files, search, grep)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66544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implementation approaches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6888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4323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detailed implementation plans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71216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2834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architecture &amp; dependencies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75488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18" name="Text 11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Plan Mode CANNOT Do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64208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57800" y="16276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files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066544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5780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468880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57800" y="24323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any changes to your project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71216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57800" y="2834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git operations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 + CLI Hybrid Workflow</a:t>
            </a:r>
            <a:endParaRPr lang="en-US" sz="1600" dirty="0"/>
          </a:p>
        </p:txBody>
      </p:sp>
      <p:sp>
        <p:nvSpPr>
          <p:cNvPr id="28" name="Shape 17"/>
          <p:cNvSpPr/>
          <p:nvPr/>
        </p:nvSpPr>
        <p:spPr>
          <a:xfrm>
            <a:off x="457200" y="4160520"/>
            <a:ext cx="1965960" cy="868680"/>
          </a:xfrm>
          <a:prstGeom prst="rect">
            <a:avLst/>
          </a:prstGeom>
          <a:solidFill>
            <a:srgbClr val="4A90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18"/>
          <p:cNvSpPr/>
          <p:nvPr/>
        </p:nvSpPr>
        <p:spPr>
          <a:xfrm>
            <a:off x="548640" y="4160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(CLI/IDE)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548640" y="4526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changes, refactoring, features, debugging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2606040" y="4160520"/>
            <a:ext cx="1965960" cy="868680"/>
          </a:xfrm>
          <a:prstGeom prst="rect">
            <a:avLst/>
          </a:prstGeom>
          <a:solidFill>
            <a:srgbClr val="D49A2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1"/>
          <p:cNvSpPr/>
          <p:nvPr/>
        </p:nvSpPr>
        <p:spPr>
          <a:xfrm>
            <a:off x="2697480" y="4160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IDE</a:t>
            </a:r>
            <a:endParaRPr lang="en-US" sz="1000" dirty="0"/>
          </a:p>
        </p:txBody>
      </p:sp>
      <p:sp>
        <p:nvSpPr>
          <p:cNvPr id="33" name="Text 22"/>
          <p:cNvSpPr/>
          <p:nvPr/>
        </p:nvSpPr>
        <p:spPr>
          <a:xfrm>
            <a:off x="2697480" y="4526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edits, inline autocomplete, visual navigation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4754880" y="4160520"/>
            <a:ext cx="1965960" cy="868680"/>
          </a:xfrm>
          <a:prstGeom prst="rect">
            <a:avLst/>
          </a:prstGeom>
          <a:solidFill>
            <a:srgbClr val="2D4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24"/>
          <p:cNvSpPr/>
          <p:nvPr/>
        </p:nvSpPr>
        <p:spPr>
          <a:xfrm>
            <a:off x="4846320" y="4160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4846320" y="4526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worktree sessions, background agents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6903720" y="4160520"/>
            <a:ext cx="1965960" cy="868680"/>
          </a:xfrm>
          <a:prstGeom prst="rect">
            <a:avLst/>
          </a:prstGeom>
          <a:solidFill>
            <a:srgbClr val="34C75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27"/>
          <p:cNvSpPr/>
          <p:nvPr/>
        </p:nvSpPr>
        <p:spPr>
          <a:xfrm>
            <a:off x="6995160" y="4160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6995160" y="4526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tasks, reviewing on the go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— The Enforcement Layer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64008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scripts that execute outside Claude's decision loop. Claude cannot ignore, interpret, or skip them.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28800"/>
            <a:ext cx="2606040" cy="54864"/>
          </a:xfrm>
          <a:prstGeom prst="rect">
            <a:avLst/>
          </a:prstGeom>
          <a:solidFill>
            <a:srgbClr val="FF95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659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947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before action.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block the action entirely.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37560" y="182880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1828800"/>
            <a:ext cx="260604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9659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1947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4728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after action.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trigger corrections.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17920" y="182880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828800"/>
            <a:ext cx="2606040" cy="54864"/>
          </a:xfrm>
          <a:prstGeom prst="rect">
            <a:avLst/>
          </a:prstGeom>
          <a:solidFill>
            <a:srgbClr val="FF3B5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196596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1947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32764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final response.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quality gate before output.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41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PreToolUse hook in settings.json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7200" y="3474720"/>
            <a:ext cx="5029200" cy="155448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5" name="Text 19"/>
          <p:cNvSpPr/>
          <p:nvPr/>
        </p:nvSpPr>
        <p:spPr>
          <a:xfrm>
            <a:off x="59436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"hooks":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"PreToolUse": [{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"matcher": "Write",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"bash -c 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echo "$TOOL_INPUT"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grep -q "production";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"BLOCK: No writes to prod!"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exit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fi'"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760720" y="3474720"/>
            <a:ext cx="30175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760720" y="3474720"/>
            <a:ext cx="54864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Text 22"/>
          <p:cNvSpPr/>
          <p:nvPr/>
        </p:nvSpPr>
        <p:spPr>
          <a:xfrm>
            <a:off x="594360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 =  Constitution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760720" y="3977640"/>
            <a:ext cx="30175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760720" y="3977640"/>
            <a:ext cx="54864" cy="4114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1" name="Text 25"/>
          <p:cNvSpPr/>
          <p:nvPr/>
        </p:nvSpPr>
        <p:spPr>
          <a:xfrm>
            <a:off x="594360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=  SOPs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760720" y="4480560"/>
            <a:ext cx="30175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760720" y="4480560"/>
            <a:ext cx="54864" cy="41148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34" name="Text 28"/>
          <p:cNvSpPr/>
          <p:nvPr/>
        </p:nvSpPr>
        <p:spPr>
          <a:xfrm>
            <a:off x="594360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 =  Police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412480" y="3474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8412480" y="3977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8412480" y="4480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All Together — How Claude Code Works</a:t>
            </a:r>
            <a:endParaRPr lang="en-US" sz="2400" dirty="0"/>
          </a:p>
        </p:txBody>
      </p:sp>
      <p:pic>
        <p:nvPicPr>
          <p:cNvPr id="3" name="Image 0" descr="/mnt/user-data/uploads/claude_cod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3232"/>
            <a:ext cx="8412480" cy="4694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3385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is the #1 skill — keep it fresh, use /compact and /clear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6420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62763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agentic-first — it plans, implements, tests, and commits autonomously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194560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15798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connects external tools but costs context — toggle servers on/off deliberately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724912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2688336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keep your context clean — delegate large tasks, get back summaries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255264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321868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is your constitution; Hooks are your police — use both</a:t>
            </a:r>
            <a:endParaRPr lang="en-US" sz="13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85616"/>
            <a:ext cx="347472" cy="3474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88720" y="3749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mode: Normal for safety, Auto-Accept for flow, Plan for architecture</a:t>
            </a:r>
            <a:endParaRPr lang="en-US" sz="13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15968"/>
            <a:ext cx="347472" cy="34747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88720" y="42793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CLI + IDE for best results — they complement, not compete</a:t>
            </a:r>
            <a:endParaRPr lang="en-US" sz="1350" dirty="0"/>
          </a:p>
        </p:txBody>
      </p:sp>
      <p:sp>
        <p:nvSpPr>
          <p:cNvPr id="18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19" name="Text 10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Attila Budai  •  Questions?  •  Deep-dives available on hooks, subagents, and parallel workflows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0B42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1966</Words>
  <Application>Microsoft Office PowerPoint</Application>
  <PresentationFormat>Diavetítés a képernyőre (16:9 oldalarány)</PresentationFormat>
  <Paragraphs>330</Paragraphs>
  <Slides>20</Slides>
  <Notes>20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— Mastering Anthropic's Agentic Coding Tool</dc:title>
  <dc:subject>PptxGenJS Presentation</dc:subject>
  <dc:creator>Attila Budai</dc:creator>
  <cp:lastModifiedBy>Attila Budai</cp:lastModifiedBy>
  <cp:revision>3</cp:revision>
  <dcterms:created xsi:type="dcterms:W3CDTF">2026-03-04T23:38:14Z</dcterms:created>
  <dcterms:modified xsi:type="dcterms:W3CDTF">2026-03-05T10:06:53Z</dcterms:modified>
</cp:coreProperties>
</file>